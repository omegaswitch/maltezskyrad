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3ee721-4ed9-26bb-fdaf-bb336863e1a2}">
          <p14:sldIdLst>
            <p14:sldId id="256"/>
          </p14:sldIdLst>
        </p14:section>
        <p14:section name="Findings" id="{da66ea6a-2d1f-d55b-54c1-04cc29836cc5}">
          <p14:sldIdLst>
            <p14:sldId id="257"/>
            <p14:sldId id="258"/>
            <p14:sldId id="259"/>
            <p14:sldId id="260"/>
            <p14:sldId id="261"/>
          </p14:sldIdLst>
        </p14:section>
        <p14:section name="Next steps" id="{f6a19016-500f-35cf-4b44-42b0db5ec7c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why the old WordPress site should be replaced, and that the new site is ready apart from the sign-offs listed at the end. All figures were measured on 15 October 2026 on the live old site (cvp.maltezskyrad.cz) and on the new site's production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Accessibility: axe-core 4.10 found 63 WCAG 2.1 A/AA violations on the old home page (44 contrast failures, form fields without labels, links without names, an obsolete scrolling marquee); 0 on the new site's own markup. Third parties on the old home page: Facebook SDK, Twitter, Google Maps, Google Fonts and others (9 hosts); the new site loads only the AddCal calendar, and only when it scrolls into view. Download: 64 requests and 1.4 MB versus 29 requests and 0.37 MB. Languages: the old site is Czech with one English presentation link; the new site has every current page in five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Checked 14 and 15 Oct 2026 with curl and Chromium: NET::ERR_CERT_COMMON_NAME_INVALID. The fix on the old server is independent of the redesign: remove the redirect or issue a certificate that includes cvp.maltezskyrad.cz. Pointing the domain at the new site removes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response headers of cvp.maltezskyrad.cz (server: openresty, no CSP or HSTS); the theme loads /wp-content/themes/pokus2/js/jquery-1.10.2.min.js next to WordPress's own jQuery; /wp-json/wp/v2/users answers HTTP 200. The new site's headers are defined in vercel.json and checked on every build; a secrets scan of the repository and its history found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site: the header shows the coat of arms with 'Řád Maltézských rytířů – České velkopřevorství', not the Grand Magistry banner or the Order's full name; the footer reads 'Řád Maltézských rytířů - České velkopřevorství, 2022' with no IČO; the GDPR link goes to gdpr.maltezskyrad.cz over HTTP; Facebook, Twitter and Google services load before any consent. New site: lockup 'Maltézský řád – Česká republika' in each language, built to the Coat of Arms guidelines' proportions; registered name and IČO 00569623 from ARES in the footer; privacy notice awaiting the Grand Priory's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screenshots: home page, 1440 x 900, 15 Oct 2026. The old site also uses an obsolete scrolling &lt;marquee&gt; element and a slider; the new site follows the Grand Magistry Entities Theme frame (red top bar, banner, graphite menu, grey/white/red footer) with the Order's colours and fonts, and is the same frame on every page and in every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is done and live on the preview: content migrated with all 193 news posts at their original addresses, 2027 calendar, translations, security headers, legal identity in the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ltezskyrad/a956164b-cfa5-5804-a3a7-7f748db7c02a/scratchpad/deck/banner-str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1463040"/>
          </a:xfrm>
          <a:prstGeom prst="rect">
            <a:avLst/>
          </a:prstGeom>
        </p:spPr>
      </p:pic>
      <p:pic>
        <p:nvPicPr>
          <p:cNvPr id="3" name="Image 1" descr="/tmp/claude-0/-home-user-maltezskyrad/a956164b-cfa5-5804-a3a7-7f748db7c02a/scratchpad/deck/lockup-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0" cy="9189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Maltézský řád – Česká republika  ·  maltezskyrad.cz, old and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new website for the Grand Priory of Bohemia</a:t>
            </a:r>
            <a:endParaRPr lang="en-US" sz="3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maltezskyrad.cz, the old site and the new one compared: security, compliance, visual language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new site in four numbers</a:t>
            </a:r>
            <a:endParaRPr lang="en-US" sz="2800" dirty="0"/>
          </a:p>
        </p:txBody>
      </p:sp>
      <p:sp>
        <p:nvSpPr>
          <p:cNvPr id="3" name="stat-card-1"/>
          <p:cNvSpPr/>
          <p:nvPr/>
        </p:nvSpPr>
        <p:spPr>
          <a:xfrm>
            <a:off x="45720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ACCESSIBILITY ERRORS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63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WCAG 2.1 AA, home page</a:t>
            </a:r>
            <a:endParaRPr lang="en-US" sz="1100" dirty="0"/>
          </a:p>
        </p:txBody>
      </p:sp>
      <p:sp>
        <p:nvSpPr>
          <p:cNvPr id="8" name="stat-card-2"/>
          <p:cNvSpPr/>
          <p:nvPr/>
        </p:nvSpPr>
        <p:spPr>
          <a:xfrm>
            <a:off x="256032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THIRD-PARTY SERVICES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loaded on the home page</a:t>
            </a:r>
            <a:endParaRPr lang="en-US" sz="1100" dirty="0"/>
          </a:p>
        </p:txBody>
      </p:sp>
      <p:sp>
        <p:nvSpPr>
          <p:cNvPr id="13" name="stat-card-3"/>
          <p:cNvSpPr/>
          <p:nvPr/>
        </p:nvSpPr>
        <p:spPr>
          <a:xfrm>
            <a:off x="466344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HOME PAGE DOWNLOAD, MB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0.37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1.4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desktop, first visit</a:t>
            </a:r>
            <a:endParaRPr lang="en-US" sz="1100" dirty="0"/>
          </a:p>
        </p:txBody>
      </p:sp>
      <p:sp>
        <p:nvSpPr>
          <p:cNvPr id="18" name="stat-card-4"/>
          <p:cNvSpPr/>
          <p:nvPr/>
        </p:nvSpPr>
        <p:spPr>
          <a:xfrm>
            <a:off x="676656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LANGUAGES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CS · EN · FR · IT · DE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Measured 15 Oct 2026 in Chromium: axe-core accessibility scan, network log of the home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Visitors are warned away at the door</a:t>
            </a:r>
            <a:endParaRPr lang="en-US" sz="2800" dirty="0"/>
          </a:p>
        </p:txBody>
      </p:sp>
      <p:sp>
        <p:nvSpPr>
          <p:cNvPr id="3" name="cert-frame"/>
          <p:cNvSpPr/>
          <p:nvPr/>
        </p:nvSpPr>
        <p:spPr>
          <a:xfrm>
            <a:off x="457200" y="1280160"/>
            <a:ext cx="4206240" cy="252374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cert-error-screenshot" descr="/tmp/claude-0/-home-user-maltezskyrad/a956164b-cfa5-5804-a3a7-7f748db7c02a/scratchpad/deck/shots/cer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11480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What a browser shows for www.maltezskyrad.cz today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0" y="1280160"/>
            <a:ext cx="3657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What happens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maltezskyrad.cz redirects to cvp.maltezskyrad.cz, whose certificate does not cover that name.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2176272"/>
            <a:ext cx="3657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Who sees it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visitor who types the address or follows an old link. Most turn back at the warning.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0" y="3044952"/>
            <a:ext cx="3657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New site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address, www.maltezskyrad.cz, with valid HTTPS enforced by HSTS.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3913632"/>
            <a:ext cx="36576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Security: exposed CMS, static site</a:t>
            </a:r>
            <a:endParaRPr lang="en-US" sz="2800" dirty="0"/>
          </a:p>
        </p:txBody>
      </p:sp>
      <p:graphicFrame>
        <p:nvGraphicFramePr>
          <p:cNvPr id="5" name="secu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Old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New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Software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WordPress with a 2018 theme bundling jQuery 1.10.2 (2013, known XSS flaws)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Static HTML: no server code, no database, no login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Admin exposure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The public API lists the administrator's login name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admin area on the public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Security headers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None: no Content-Security-Policy, no HSTS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CSP, HSTS, X-Frame-Options, Referrer and Permissions policies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Third parties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Facebook, Twitter, Google Maps and Google Fonts load on every visit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Only the AddCal calendar, loaded when scrolled 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Privacy page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 separate subdomain linked over plain HTTP; its HTTPS address fails the certificate check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Privacy notice on the site, in five languages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Compliance: Order rules and Czech law</a:t>
            </a:r>
            <a:endParaRPr lang="en-US" sz="2800" dirty="0"/>
          </a:p>
        </p:txBody>
      </p:sp>
      <p:graphicFrame>
        <p:nvGraphicFramePr>
          <p:cNvPr id="6" name="compli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Old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Grand Magistry banner with the personalised lockup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Entities Guidelines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Full official name of the Order in the banner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Communications Policy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Link to orderofmalta.int in the footer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Entities Guidelines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Registered name, seat and IČO on the site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Civil Code § 435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Privacy notice on the site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GDPR art. 13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third-party tracking before consent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Act 127/2005 § 89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Accessible to WCAG 2.1 AA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Good practice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Visual language: old theme, Order frame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Old site</a:t>
            </a:r>
            <a:endParaRPr lang="en-US" sz="1200" dirty="0"/>
          </a:p>
        </p:txBody>
      </p:sp>
      <p:sp>
        <p:nvSpPr>
          <p:cNvPr id="4" name="Old site-frame"/>
          <p:cNvSpPr/>
          <p:nvPr/>
        </p:nvSpPr>
        <p:spPr>
          <a:xfrm>
            <a:off x="457200" y="1417320"/>
            <a:ext cx="3931920" cy="24574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Old site-screenshot" descr="/tmp/claude-0/-home-user-maltezskyrad/a956164b-cfa5-5804-a3a7-7f748db7c02a/scratchpad/deck/shots/ol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44752"/>
            <a:ext cx="3877056" cy="2423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Own header with the coat of arms, not the Grand Magistry banner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Menu labels wrap onto two lines over the photograph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New site</a:t>
            </a:r>
            <a:endParaRPr lang="en-US" sz="1200" dirty="0"/>
          </a:p>
        </p:txBody>
      </p:sp>
      <p:sp>
        <p:nvSpPr>
          <p:cNvPr id="8" name="New site-frame"/>
          <p:cNvSpPr/>
          <p:nvPr/>
        </p:nvSpPr>
        <p:spPr>
          <a:xfrm>
            <a:off x="4754880" y="1417320"/>
            <a:ext cx="3931920" cy="24574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9" name="New site-screenshot" descr="/tmp/claude-0/-home-user-maltezskyrad/a956164b-cfa5-5804-a3a7-7f748db7c02a/scratchpad/deck/shots/new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3877056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Grand Magistry banner with the personalised lockup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Clear hierarchy: Garamond headings, Asap text, white space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needed to launch</a:t>
            </a:r>
            <a:endParaRPr lang="en-US" sz="3200" dirty="0"/>
          </a:p>
        </p:txBody>
      </p:sp>
      <p:sp>
        <p:nvSpPr>
          <p:cNvPr id="3" name="step-1-marker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Point maltezskyrad.cz to the new site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Ends the certificate warning for every visitor.</a:t>
            </a:r>
            <a:endParaRPr lang="en-US" sz="1300" dirty="0"/>
          </a:p>
        </p:txBody>
      </p:sp>
      <p:sp>
        <p:nvSpPr>
          <p:cNvPr id="7" name="step-2-marker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67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Sign off the privacy notice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Grand Priory approval of the text in five languages.</a:t>
            </a:r>
            <a:endParaRPr lang="en-US" sz="1300" dirty="0"/>
          </a:p>
        </p:txBody>
      </p:sp>
      <p:sp>
        <p:nvSpPr>
          <p:cNvPr id="11" name="step-3-marker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35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Supply the registration number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Ministry of Culture entry of the Grand Priory, for the footer (Civil Code § 435).</a:t>
            </a:r>
            <a:endParaRPr lang="en-US" sz="1300" dirty="0"/>
          </a:p>
        </p:txBody>
      </p:sp>
      <p:sp>
        <p:nvSpPr>
          <p:cNvPr id="15" name="step-4-marker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04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translations and lockup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Native-speaker review; Grand Magistry confirmation of the lockup font.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der of Malta">
  <a:themeElements>
    <a:clrScheme name="Order of Malta">
      <a:dk1>
        <a:srgbClr val="111111"/>
      </a:dk1>
      <a:lt1>
        <a:srgbClr val="FFFFFF"/>
      </a:lt1>
      <a:dk2>
        <a:srgbClr val="454545"/>
      </a:dk2>
      <a:lt2>
        <a:srgbClr val="F3F3F3"/>
      </a:lt2>
      <a:accent1>
        <a:srgbClr val="E31818"/>
      </a:accent1>
      <a:accent2>
        <a:srgbClr val="C80E00"/>
      </a:accent2>
      <a:accent3>
        <a:srgbClr val="6F6F6F"/>
      </a:accent3>
      <a:accent4>
        <a:srgbClr val="C7C7C7"/>
      </a:accent4>
      <a:accent5>
        <a:srgbClr val="2F2F2F"/>
      </a:accent5>
      <a:accent6>
        <a:srgbClr val="A7B7D5"/>
      </a:accent6>
      <a:hlink>
        <a:srgbClr val="C80E00"/>
      </a:hlink>
      <a:folHlink>
        <a:srgbClr val="6F6F6F"/>
      </a:folHlink>
    </a:clrScheme>
    <a:fontScheme name="Order of Malta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Suverénní řád Maltézských rytířů – České velkopřevorství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maltezskyrad.cz: old site and new site compared</dc:title>
  <dc:subject>PptxGenJS Presentation</dc:subject>
  <dc:creator>Grand Priory of Bohemia</dc:creator>
  <cp:lastModifiedBy>Grand Priory of Bohemia</cp:lastModifiedBy>
  <cp:revision>1</cp:revision>
  <dcterms:created xsi:type="dcterms:W3CDTF">2026-10-15T15:15:13Z</dcterms:created>
  <dcterms:modified xsi:type="dcterms:W3CDTF">2026-10-15T15:15:13Z</dcterms:modified>
</cp:coreProperties>
</file>